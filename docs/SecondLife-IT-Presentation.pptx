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45720" cy="6858000"/>
          </a:xfrm>
          <a:prstGeom prst="rect">
            <a:avLst/>
          </a:prstGeom>
          <a:solidFill>
            <a:srgbClr val="00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-45720"/>
            <a:ext cx="2286000" cy="2286000"/>
          </a:xfrm>
          <a:prstGeom prst="ellipse">
            <a:avLst/>
          </a:prstGeom>
          <a:solidFill>
            <a:srgbClr val="00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1645920" cy="1645920"/>
          </a:xfrm>
          <a:prstGeom prst="ellipse">
            <a:avLst/>
          </a:prstGeom>
          <a:solidFill>
            <a:srgbClr val="0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B4D8"/>
                </a:solidFill>
              </a:rPr>
              <a:t>SecondLife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Internal Asset Redistribution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BDEFF"/>
                </a:solidFill>
              </a:rPr>
              <a:t>Applied Materials Israel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029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0A4AE"/>
                </a:solidFill>
              </a:rPr>
              <a:t>IT Manager Briefing  · 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DEFF"/>
                </a:solidFill>
              </a:rPr>
              <a:t>Agenda:
  1.  What is this information system?
  2.  Why is it needed?
  3.  System overview &amp; live demo
  4.  Technical requirements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SecondLife?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Defining the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8132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SecondLife is an internal web-based marketplace for Applied Materials Israel.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21408"/>
            <a:ext cx="11338560" cy="877824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5856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Any department can post assets they no longer need — before they are scrapped or disposed of.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27248"/>
            <a:ext cx="11338560" cy="877824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6440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Other departments browse, search, and claim those assets — for free, within the organisation.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133087"/>
            <a:ext cx="11338560" cy="877824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7024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 built-in workflow manages the full lifecycle: posting → notification → claim → pickup → completion.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138928"/>
            <a:ext cx="11338560" cy="877824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276088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Every transfer is recorded, and each employee can see their personal impact in a live dashboard.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Is This System Needed?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The problem we are solving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5669280" cy="224028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81328"/>
            <a:ext cx="566928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453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No Visibility Across Departments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75688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When a department schedules an asset for disposal, no one else is informed.
Functional equipment disappears silently.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81328"/>
            <a:ext cx="5669280" cy="2240280"/>
          </a:xfrm>
          <a:prstGeom prst="rect">
            <a:avLst/>
          </a:prstGeom>
          <a:solidFill>
            <a:srgbClr val="0D1B3E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81328"/>
            <a:ext cx="5669280" cy="47548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453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Significant Financial Value Is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75688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Items worth ₪10,000 – ₪100,000+ are regularly scrapped while other
departments could use them. There is no channel to prevent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77056"/>
            <a:ext cx="5669280" cy="2240280"/>
          </a:xfrm>
          <a:prstGeom prst="rect">
            <a:avLst/>
          </a:prstGeom>
          <a:solidFill>
            <a:srgbClr val="0D1B3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877056"/>
            <a:ext cx="5669280" cy="47548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410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Existing Tools Are Not Enough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471416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Email, WhatsApp, and spreadsheets have no photos, no workflow, no
notifications, and no history. Coordination breaks down every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77056"/>
            <a:ext cx="5669280" cy="2240280"/>
          </a:xfrm>
          <a:prstGeom prst="rect">
            <a:avLst/>
          </a:prstGeom>
          <a:solidFill>
            <a:srgbClr val="0D1B3E"/>
          </a:solidFill>
          <a:ln w="1905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77056"/>
            <a:ext cx="5669280" cy="475488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9410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No Way to Measure the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471416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There is currently no system to track how much value has been saved
or lost — making it impossible to report results to management.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Existing Tools Are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Part 1 — The problem continued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430000" cy="89611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19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📧 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45919"/>
            <a:ext cx="7863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No central visibility  ·  No tracking  ·  Buried in inboxes  ·  No photos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11430000" cy="896112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💬  WhatsApp /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51760"/>
            <a:ext cx="7863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No history  ·  No search  ·  No formal workflow  ·  Missed by latecomers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20440"/>
            <a:ext cx="11430000" cy="89611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📊  Shared Spreadsheet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57600"/>
            <a:ext cx="7863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No photos  ·  No notifications  ·  No lifecycle tracking  ·  Manual updates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26280"/>
            <a:ext cx="11430000" cy="896112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3108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📋  Paper / Verbal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663440"/>
            <a:ext cx="7863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Zero traceability  ·  No audit trail  ·  Relies on knowing the right person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77840"/>
            <a:ext cx="11430000" cy="804672"/>
          </a:xfrm>
          <a:prstGeom prst="rect">
            <a:avLst/>
          </a:prstGeom>
          <a:solidFill>
            <a:srgbClr val="003A5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64184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</a:rPr>
              <a:t>None of these support photos, automatic notifications, deadline tracking, or a formal pickup workflow.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3 Key Business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The case for 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3749039" cy="457200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Financial
Savings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3200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340156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Assets redeployed internally instead of scrapped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Reduces purchase of replacement equipment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Every item claimed = direct cost avoidance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Est. ₪400k – ₪1M saved per 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81328"/>
            <a:ext cx="3749039" cy="4572000"/>
          </a:xfrm>
          <a:prstGeom prst="rect">
            <a:avLst/>
          </a:prstGeom>
          <a:solidFill>
            <a:srgbClr val="0D1B3E"/>
          </a:solidFill>
          <a:ln w="1905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2763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5915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CC9F0"/>
                </a:solidFill>
              </a:rPr>
              <a:t>Operational
Efficiency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063240"/>
            <a:ext cx="3200400" cy="457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182112"/>
            <a:ext cx="340156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Departments subscribe to categories they need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Automatic alerts when matching items are posted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Formal pickup coordination — no chasing people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Full lifecycle audit trail per asset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81328"/>
            <a:ext cx="3749039" cy="4572000"/>
          </a:xfrm>
          <a:prstGeom prst="rect">
            <a:avLst/>
          </a:prstGeom>
          <a:solidFill>
            <a:srgbClr val="0D1B3E"/>
          </a:solidFill>
          <a:ln w="1905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2763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5915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7CC99"/>
                </a:solidFill>
              </a:rPr>
              <a:t>Sustainability
&amp; ESG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063240"/>
            <a:ext cx="3200400" cy="4572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182112"/>
            <a:ext cx="340156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Reduces physical waste sent to disposal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Supports AMAT corporate sustainability goals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Items diverted from scrap = CO₂ saved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FFFFFF"/>
                </a:solidFill>
              </a:rPr>
              <a:t>→  Measurable dashboard per employee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Part 2 — What the System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SecondLife — system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5715000" cy="15087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36776"/>
            <a:ext cx="47548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4754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91056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Post an Asset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29968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Any department posts surplus equipment with photos, specs, scrap deadline, and estimated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481328"/>
            <a:ext cx="5715000" cy="15087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636776"/>
            <a:ext cx="47548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18488"/>
            <a:ext cx="4754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591056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Browse &amp;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029968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All employees browse available items and filter by category, condition, and urgency.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45536"/>
            <a:ext cx="5715000" cy="15087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00984"/>
            <a:ext cx="47548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82696"/>
            <a:ext cx="4754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55264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Claim an 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94176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 claimer reserves an item, triggering a formal pickup coordination workflow.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145536"/>
            <a:ext cx="5715000" cy="15087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300984"/>
            <a:ext cx="47548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82696"/>
            <a:ext cx="4754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255264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Watchlist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694176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Users save keyword searches and get instant notifications when matching items are posted.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09744"/>
            <a:ext cx="11430000" cy="15087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965192"/>
            <a:ext cx="47548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946904"/>
            <a:ext cx="4754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919472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Analytics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358383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Each user sees their personal impact: value rehomed, items posted/claimed, department ranking.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Core Workflow — From Post to Pickup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Part 2 continued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5687" y="3122676"/>
            <a:ext cx="2761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23820" y="3022092"/>
            <a:ext cx="182880" cy="310896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572768" cy="1417320"/>
          </a:xfrm>
          <a:prstGeom prst="rect">
            <a:avLst/>
          </a:prstGeom>
          <a:solidFill>
            <a:srgbClr val="0047A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57276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926080"/>
            <a:ext cx="1426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Department
has surplus item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16044" y="3122676"/>
            <a:ext cx="2761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4177" y="3022092"/>
            <a:ext cx="182880" cy="310896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7556" y="2468880"/>
            <a:ext cx="1572768" cy="1417320"/>
          </a:xfrm>
          <a:prstGeom prst="rect">
            <a:avLst/>
          </a:prstGeom>
          <a:solidFill>
            <a:srgbClr val="0047A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97556" y="2468880"/>
            <a:ext cx="157276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7556" y="2487168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0708" y="2926080"/>
            <a:ext cx="1426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Post to
SecondLife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6401" y="3122676"/>
            <a:ext cx="2761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04534" y="3022092"/>
            <a:ext cx="182880" cy="310896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7913" y="2468880"/>
            <a:ext cx="1572768" cy="1417320"/>
          </a:xfrm>
          <a:prstGeom prst="rect">
            <a:avLst/>
          </a:prstGeom>
          <a:solidFill>
            <a:srgbClr val="01679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7913" y="2468880"/>
            <a:ext cx="157276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37913" y="2487168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1065" y="2926080"/>
            <a:ext cx="1426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System notifies
watchlist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96758" y="3122676"/>
            <a:ext cx="2761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4891" y="3022092"/>
            <a:ext cx="182880" cy="310896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8270" y="2468880"/>
            <a:ext cx="1572768" cy="1417320"/>
          </a:xfrm>
          <a:prstGeom prst="rect">
            <a:avLst/>
          </a:prstGeom>
          <a:solidFill>
            <a:srgbClr val="01679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8270" y="2468880"/>
            <a:ext cx="157276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8270" y="2487168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1422" y="2926080"/>
            <a:ext cx="1426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Another dept
claims the item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37115" y="3122676"/>
            <a:ext cx="27614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85248" y="3022092"/>
            <a:ext cx="182880" cy="310896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18627" y="2468880"/>
            <a:ext cx="1572768" cy="1417320"/>
          </a:xfrm>
          <a:prstGeom prst="rect">
            <a:avLst/>
          </a:prstGeom>
          <a:solidFill>
            <a:srgbClr val="2E7D3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18627" y="2468880"/>
            <a:ext cx="157276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8627" y="2487168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1779" y="2926080"/>
            <a:ext cx="1426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Pickup
completed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58984" y="2468880"/>
            <a:ext cx="1572768" cy="1417320"/>
          </a:xfrm>
          <a:prstGeom prst="rect">
            <a:avLst/>
          </a:prstGeom>
          <a:solidFill>
            <a:srgbClr val="2E7D3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58984" y="2468880"/>
            <a:ext cx="1572768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8984" y="2487168"/>
            <a:ext cx="1572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32136" y="2926080"/>
            <a:ext cx="14264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Value saved
recorded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4206240"/>
            <a:ext cx="9418320" cy="804672"/>
          </a:xfrm>
          <a:prstGeom prst="rect">
            <a:avLst/>
          </a:prstGeom>
          <a:solidFill>
            <a:srgbClr val="00476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08760" y="427024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Result:  Assets stay in use  ·  Departments save budget  ·  Organisation measures real-time impact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Part 3 — Technical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Infrastructure &amp; Hosting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430000" cy="530352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00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Current (MVP)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00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Required for 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11430000" cy="768096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Hosting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6712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0A4AE"/>
                </a:solidFill>
              </a:rPr>
              <a:t>Vercel (cloud)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671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Vercel  OR  internal Node.js 22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62072"/>
            <a:ext cx="11430000" cy="768096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900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Domain /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9008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0A4AE"/>
                </a:solidFill>
              </a:rPr>
              <a:t>vercel.app subdomain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9900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Internal domain — secondlife.amat.co.il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85032"/>
            <a:ext cx="11430000" cy="768096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130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SSL / TLS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81304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0A4AE"/>
                </a:solidFill>
              </a:rPr>
              <a:t>Vercel managed certificate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130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Required — Vercel or internal certificate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07992"/>
            <a:ext cx="11430000" cy="768096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36007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Network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636007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0A4AE"/>
                </a:solidFill>
              </a:rPr>
              <a:t>Public internet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636007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VPN-only or internal network (preferred)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solidFill>
            <a:srgbClr val="003A5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02352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💡  The system is live on Vercel today and can remain there ($20–50/month, zero ops). Migration to an internal server is possible if data residency is required.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Technical Requirements —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Part 3 continued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5394960" cy="46634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Database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Engine: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4884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PostgreSQL 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Current: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80720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Neon — serverless PostgreSQL (cloud)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65576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Alternatives: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46557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AWS RDS  /  Azure DB for PostgreSQL  / 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23944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Schema: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123944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Prisma ORM — auto-migrations on every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8231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Backup: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78231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Daily recommended; Neon: point-in-time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79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Size (est.):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440679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&lt; 1 GB for first 3 years of 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481328"/>
            <a:ext cx="5833872" cy="4663440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60934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Database Tables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203704"/>
            <a:ext cx="2011680" cy="438912"/>
          </a:xfrm>
          <a:prstGeom prst="rect">
            <a:avLst/>
          </a:prstGeom>
          <a:solidFill>
            <a:srgbClr val="0047A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2231136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240280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4AE"/>
                </a:solidFill>
              </a:rPr>
              <a:t>Name, email, department, role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862072"/>
            <a:ext cx="2011680" cy="438912"/>
          </a:xfrm>
          <a:prstGeom prst="rect">
            <a:avLst/>
          </a:prstGeom>
          <a:solidFill>
            <a:srgbClr val="0047A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2889504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898648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4AE"/>
                </a:solidFill>
              </a:rPr>
              <a:t>Asset details, photos, status, deadline, 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520440"/>
            <a:ext cx="2011680" cy="438912"/>
          </a:xfrm>
          <a:prstGeom prst="rect">
            <a:avLst/>
          </a:prstGeom>
          <a:solidFill>
            <a:srgbClr val="0047A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3547872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557016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4AE"/>
                </a:solidFill>
              </a:rPr>
              <a:t>Who claimed what, pickup status, completion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178807"/>
            <a:ext cx="2011680" cy="438912"/>
          </a:xfrm>
          <a:prstGeom prst="rect">
            <a:avLst/>
          </a:prstGeom>
          <a:solidFill>
            <a:srgbClr val="0047A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0488" y="4206240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215383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4AE"/>
                </a:solidFill>
              </a:rPr>
              <a:t>In-app inbox messages per user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837176"/>
            <a:ext cx="2011680" cy="438912"/>
          </a:xfrm>
          <a:prstGeom prst="rect">
            <a:avLst/>
          </a:prstGeom>
          <a:solidFill>
            <a:srgbClr val="0047A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4864608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SearchSubscription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87375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4AE"/>
                </a:solidFill>
              </a:rPr>
              <a:t>User's saved keyword watchlist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5495543"/>
            <a:ext cx="2011680" cy="438912"/>
          </a:xfrm>
          <a:prstGeom prst="rect">
            <a:avLst/>
          </a:prstGeom>
          <a:solidFill>
            <a:srgbClr val="0047AB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0488" y="5522975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SearchSubscriptionMatch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5532119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4AE"/>
                </a:solidFill>
              </a:rPr>
              <a:t>Which watchlist matched which offer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Technical Requirements — App Stack &amp;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Part 3 continued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5394960" cy="3767328"/>
          </a:xfrm>
          <a:prstGeom prst="rect">
            <a:avLst/>
          </a:prstGeom>
          <a:solidFill>
            <a:srgbClr val="0D1B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Application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512064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57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57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87168"/>
            <a:ext cx="51206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5117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55117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5117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4AE"/>
                </a:solidFill>
              </a:rPr>
              <a:t>22.x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26079"/>
            <a:ext cx="5120640" cy="411480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9008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9008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Next.js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99008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4AE"/>
                </a:solidFill>
              </a:rPr>
              <a:t>15.x  (React App Router)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64991"/>
            <a:ext cx="51206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2899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289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42899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4AE"/>
                </a:solidFill>
              </a:rPr>
              <a:t>5.6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03904"/>
            <a:ext cx="5120640" cy="411480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8679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867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Prisma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867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4AE"/>
                </a:solidFill>
              </a:rPr>
              <a:t>5.22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42816"/>
            <a:ext cx="51206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3068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Styling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3068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306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4AE"/>
                </a:solidFill>
              </a:rPr>
              <a:t>3.4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81727"/>
            <a:ext cx="5120640" cy="411480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7457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Images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7457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Sharp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7457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4AE"/>
                </a:solidFill>
              </a:rPr>
              <a:t>Auto-compress → WebP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120640"/>
            <a:ext cx="51206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84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1846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Vercel Blob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184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A4AE"/>
                </a:solidFill>
              </a:rPr>
              <a:t>or AWS S3 / Azure Blob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1481328"/>
            <a:ext cx="5833872" cy="3767328"/>
          </a:xfrm>
          <a:prstGeom prst="rect">
            <a:avLst/>
          </a:prstGeom>
          <a:solidFill>
            <a:srgbClr val="0D1B3E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160934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65C00"/>
                </a:solidFill>
              </a:rPr>
              <a:t>Authentication — Action Required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103120"/>
            <a:ext cx="5394960" cy="512064"/>
          </a:xfrm>
          <a:prstGeom prst="rect">
            <a:avLst/>
          </a:prstGeom>
          <a:solidFill>
            <a:srgbClr val="3E1A00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15798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C00"/>
                </a:solidFill>
              </a:rPr>
              <a:t>⚠  Current: mock login — NOT for production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715768"/>
            <a:ext cx="914400" cy="43891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27706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AD / LDAP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27797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Integrate with AMAT Israel Active Directory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337560"/>
            <a:ext cx="914400" cy="43891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3392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SSO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34015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SAML 2.0 or OAuth 2.0 — same login as Windows/Outlook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959352"/>
            <a:ext cx="914400" cy="43891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4014215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Dept/Role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0233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Pulled automatically from AD attributes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581144"/>
            <a:ext cx="914400" cy="43891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463600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Session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46451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Secure session management via NextAuth.js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321808"/>
            <a:ext cx="11430000" cy="804672"/>
          </a:xfrm>
          <a:prstGeom prst="rect">
            <a:avLst/>
          </a:prstGeom>
          <a:solidFill>
            <a:srgbClr val="002A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394960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💡  SMTP / Exchange relay needed for email notifications (deadline reminders, claim confirmations).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Summary — What IT Needs to Provide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Go-live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3749039" cy="4251960"/>
          </a:xfrm>
          <a:prstGeom prst="rect">
            <a:avLst/>
          </a:prstGeom>
          <a:solidFill>
            <a:srgbClr val="0D1B3E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5C00"/>
                </a:solidFill>
              </a:rPr>
              <a:t>🔴  Critical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200400" cy="457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34290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PostgreSQL database (Neon / RDS / Azure / internal)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Internal domain + SSL — secondlife.amat.co.il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LDAP / Active Directory SSO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81328"/>
            <a:ext cx="3749039" cy="4251960"/>
          </a:xfrm>
          <a:prstGeom prst="rect">
            <a:avLst/>
          </a:prstGeom>
          <a:solidFill>
            <a:srgbClr val="0D1B3E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276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C00"/>
                </a:solidFill>
              </a:rPr>
              <a:t>🟡  Important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103120"/>
            <a:ext cx="32004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12848"/>
            <a:ext cx="34290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SMTP / Exchange relay for email notifications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VPN / network access policy decision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Automated database backup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81328"/>
            <a:ext cx="3749039" cy="4251960"/>
          </a:xfrm>
          <a:prstGeom prst="rect">
            <a:avLst/>
          </a:prstGeom>
          <a:solidFill>
            <a:srgbClr val="0D1B3E"/>
          </a:solidFill>
          <a:ln w="19050"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2763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7CC99"/>
                </a:solidFill>
              </a:rPr>
              <a:t>🟢  Nice to Have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103120"/>
            <a:ext cx="3200400" cy="4572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212848"/>
            <a:ext cx="34290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Admin panel to manage users and moderate posts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Usage analytics for management reporting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FFFF"/>
                </a:solidFill>
              </a:rPr>
              <a:t>→  Slack / Teams webhook for notifications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11430000" cy="713232"/>
          </a:xfrm>
          <a:prstGeom prst="rect">
            <a:avLst/>
          </a:prstGeom>
          <a:solidFill>
            <a:srgbClr val="0047AB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Expected ROI: ₪400,000 – ₪1,000,000 per year  ·  3–4 weeks to production once infrastructure is ready  ·  $20–50/month hosting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-457200"/>
            <a:ext cx="5029200" cy="5029200"/>
          </a:xfrm>
          <a:prstGeom prst="ellipse">
            <a:avLst/>
          </a:prstGeom>
          <a:solidFill>
            <a:srgbClr val="004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200400"/>
            <a:ext cx="3200400" cy="3200400"/>
          </a:xfrm>
          <a:prstGeom prst="ellipse">
            <a:avLst/>
          </a:prstGeom>
          <a:solidFill>
            <a:srgbClr val="00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BDEFF"/>
                </a:solidFill>
              </a:rPr>
              <a:t>Now Moving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B4D8"/>
                </a:solidFill>
              </a:rPr>
              <a:t>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520440"/>
            <a:ext cx="54864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We will now walk through the system live in the browser.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79392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What you will see:
  →  Posting a new asset with photos
  →  Claiming an item and the notification flow
  →  The analytics &amp; impact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Meeting Agenda &amp;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EFF"/>
                </a:solidFill>
              </a:rPr>
              <a:t>How long each stage takes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11430000" cy="4572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3619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3619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53619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53619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38528"/>
            <a:ext cx="11430000" cy="694944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57400"/>
            <a:ext cx="475488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5740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7568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0756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AE"/>
                </a:solidFill>
              </a:rPr>
              <a:t>What is SecondLife and why is it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20756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88336"/>
            <a:ext cx="11430000" cy="694944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807208"/>
            <a:ext cx="475488" cy="4572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0720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8254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C9F0"/>
                </a:solidFill>
              </a:rPr>
              <a:t>The Problem &amp; Benefits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8254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AE"/>
                </a:solidFill>
              </a:rPr>
              <a:t>Current pain points and the business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28254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38144"/>
            <a:ext cx="11430000" cy="694944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557015"/>
            <a:ext cx="475488" cy="45720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557015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575303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7CC99"/>
                </a:solidFill>
              </a:rPr>
              <a:t>System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57530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AE"/>
                </a:solidFill>
              </a:rPr>
              <a:t>What the system does and the core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3575303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7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87952"/>
            <a:ext cx="11430000" cy="694944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306824"/>
            <a:ext cx="475488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0682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3251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5C00"/>
                </a:solidFill>
              </a:rPr>
              <a:t>Live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3251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AE"/>
                </a:solidFill>
              </a:rPr>
              <a:t>Full walkthrough in the browser —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43251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12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37760"/>
            <a:ext cx="11430000" cy="694944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056632"/>
            <a:ext cx="475488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056632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74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C00"/>
                </a:solidFill>
              </a:rPr>
              <a:t>Technical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074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AE"/>
                </a:solidFill>
              </a:rPr>
              <a:t>Infrastructure, database, authentication needs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5074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8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687568"/>
            <a:ext cx="11430000" cy="694944"/>
          </a:xfrm>
          <a:prstGeom prst="rect">
            <a:avLst/>
          </a:prstGeom>
          <a:solidFill>
            <a:srgbClr val="12224A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806440"/>
            <a:ext cx="475488" cy="45720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80644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824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7CC99"/>
                </a:solidFill>
              </a:rPr>
              <a:t>Q&amp;A &amp; Next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8247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4AE"/>
                </a:solidFill>
              </a:rPr>
              <a:t>Open discussion and decision on next steps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9880" y="5824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 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437376"/>
            <a:ext cx="11430000" cy="438912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5105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Total meeting time: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45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F"/>
                </a:solidFill>
              </a:rPr>
              <a:t>Applied Materials Israel  |  SecondLife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