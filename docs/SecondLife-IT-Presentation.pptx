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0"/>
            <a:ext cx="36576" cy="6858000"/>
          </a:xfrm>
          <a:prstGeom prst="rect">
            <a:avLst/>
          </a:prstGeom>
          <a:solidFill>
            <a:srgbClr val="00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72600" y="-45720"/>
            <a:ext cx="2286000" cy="2286000"/>
          </a:xfrm>
          <a:prstGeom prst="ellipse">
            <a:avLst/>
          </a:prstGeom>
          <a:solidFill>
            <a:srgbClr val="0047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4206240"/>
            <a:ext cx="1645920" cy="1645920"/>
          </a:xfrm>
          <a:prstGeom prst="ellipse">
            <a:avLst/>
          </a:prstGeom>
          <a:solidFill>
            <a:srgbClr val="0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0B4D8"/>
                </a:solidFill>
              </a:rPr>
              <a:t>SecondLife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Internal Asset Redistribution Marketplace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EFF"/>
                </a:solidFill>
              </a:rPr>
              <a:t>Applied Materials Israel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91840"/>
            <a:ext cx="50292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0A4AE"/>
                </a:solidFill>
              </a:rPr>
              <a:t>IT Manager Briefing  ·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E5FF"/>
                </a:solidFill>
              </a:rPr>
              <a:t>Presentation covers:
  Part 1  —  Why This System Is Necessary
  Part 2  —  What the System Does
  Part 4  —  Technical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Part 1  —  Why This System Is Necessary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The problem we are solving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420624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" y="1645920"/>
            <a:ext cx="50292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627632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No Central Visibility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743200"/>
            <a:ext cx="340156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When a department schedules an asset for disposal, no other department is automatically informed. Assets disappear silently.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463040"/>
            <a:ext cx="3749039" cy="420624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645920"/>
            <a:ext cx="50292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27632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Value Lost to Scrap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743200"/>
            <a:ext cx="340156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Functional equipment worth tens of thousands of NIS is regularly discarded simply because no redistribution channel exists.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0456" y="1463040"/>
            <a:ext cx="3749039" cy="420624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8" y="1645920"/>
            <a:ext cx="50292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1627632"/>
            <a:ext cx="502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Manual Processes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2743200"/>
            <a:ext cx="340156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Emails, WhatsApp, and spreadsheets have no photos, no workflow, no notifications, and no history. Coordination breaks down.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Existing Tools Are Not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Part 1 continued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08760"/>
            <a:ext cx="11521440" cy="822960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1848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📧 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61848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 central visibility · No tracking · Buried in inboxes · No photos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96312"/>
            <a:ext cx="11521440" cy="822960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💬  WhatsApp /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060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 history · No search · No formal workflow · Missed by latecomers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483864"/>
            <a:ext cx="11521440" cy="822960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9359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📊  Shared Spreadsheet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93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 photos · No notifications · No lifecycle tracking · Manual updates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471416"/>
            <a:ext cx="11521440" cy="822960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📋  Paper / Verbal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581144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Zero traceability · No audit trail · Relies on knowing the right person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892040"/>
            <a:ext cx="11521440" cy="914400"/>
          </a:xfrm>
          <a:prstGeom prst="rect">
            <a:avLst/>
          </a:prstGeom>
          <a:solidFill>
            <a:srgbClr val="00478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5604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None of these tools support photos, automatic notifications, deadline tracking, or a formal pickup workflow — the minimum needed for reliable redistribution.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3 Key Business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Part 1 continued — the case for investment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3749039" cy="448056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💰  Financial Savings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32004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12848"/>
            <a:ext cx="340156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Assets with remaining useful life are redeployed internally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Reduces purchase of replacement equipment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Every item claimed = direct cost avoidance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Conservative estimate: ₪400k–₪1M saved per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444752"/>
            <a:ext cx="3749039" cy="4480560"/>
          </a:xfrm>
          <a:prstGeom prst="rect">
            <a:avLst/>
          </a:prstGeom>
          <a:solidFill>
            <a:srgbClr val="0D1B3E"/>
          </a:solidFill>
          <a:ln w="19050">
            <a:solidFill>
              <a:srgbClr val="4CC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5727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CC9F0"/>
                </a:solidFill>
              </a:rPr>
              <a:t>⚙️  Operational Efficiency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2103120"/>
            <a:ext cx="3200400" cy="36576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2212848"/>
            <a:ext cx="340156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Departments search and subscribe to categories they need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Automatic alerts when matching items are posted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Formal pickup coordination — no more chasing people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Full lifecycle audit trail per asset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0456" y="1444752"/>
            <a:ext cx="3749039" cy="4480560"/>
          </a:xfrm>
          <a:prstGeom prst="rect">
            <a:avLst/>
          </a:prstGeom>
          <a:solidFill>
            <a:srgbClr val="0D1B3E"/>
          </a:solidFill>
          <a:ln w="19050">
            <a:solidFill>
              <a:srgbClr val="57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6" y="15727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7CC99"/>
                </a:solidFill>
              </a:rPr>
              <a:t>🌱  Sustainability / ESG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2103120"/>
            <a:ext cx="3200400" cy="36576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212848"/>
            <a:ext cx="340156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Reduces physical waste sent to disposal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Supports AMAT corporate sustainability goals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Items diverted from scrap = CO₂ and materials saved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→  Measurable impact dashboard per employee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Part 2  —  What the System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SecondLife — system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81328"/>
            <a:ext cx="5715000" cy="141732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18488"/>
            <a:ext cx="41148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15727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Post an Asset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984248"/>
            <a:ext cx="4892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Any department can post surplus equipment with photos, specs, scrap deadline, and estimated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054096"/>
            <a:ext cx="5715000" cy="141732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191256"/>
            <a:ext cx="41148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4553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Browse &amp;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7" y="3557015"/>
            <a:ext cx="4892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employees can browse available items, filter by category, condition, and urgency.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26864"/>
            <a:ext cx="5715000" cy="141732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764024"/>
            <a:ext cx="41148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45736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7" y="471830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Claim an Item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5129784"/>
            <a:ext cx="4892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 claimer reserves an item, triggering a formal pickup coordination workflow.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79" y="1481328"/>
            <a:ext cx="5715000" cy="141732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1618488"/>
            <a:ext cx="41148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600200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15727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Watchlist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7" y="1984248"/>
            <a:ext cx="4892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Users save keyword searches and receive instant notifications when matching items are posted.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79" y="3054096"/>
            <a:ext cx="5715000" cy="141732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92240" y="3191256"/>
            <a:ext cx="41148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172968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314553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Analytics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3447" y="3557015"/>
            <a:ext cx="4892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Each user sees their personal impact: value rehomed, items posted/claimed, department ranking.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Core Workflow — From Post to Pickup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Part 2 continued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3154680"/>
            <a:ext cx="279806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73198" y="3063240"/>
            <a:ext cx="164592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560320"/>
            <a:ext cx="1554480" cy="1280160"/>
          </a:xfrm>
          <a:prstGeom prst="rect">
            <a:avLst/>
          </a:prstGeom>
          <a:solidFill>
            <a:srgbClr val="0047A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60320"/>
            <a:ext cx="15544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78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971800"/>
            <a:ext cx="14081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Department
has surplus item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8846" y="3154680"/>
            <a:ext cx="279806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98924" y="3063240"/>
            <a:ext cx="164592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28646" y="2560320"/>
            <a:ext cx="1554480" cy="1280160"/>
          </a:xfrm>
          <a:prstGeom prst="rect">
            <a:avLst/>
          </a:prstGeom>
          <a:solidFill>
            <a:srgbClr val="0047A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8646" y="2560320"/>
            <a:ext cx="15544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8646" y="2578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1798" y="2971800"/>
            <a:ext cx="14081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Post to
SecondLife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54572" y="3154680"/>
            <a:ext cx="279806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4651" y="3063240"/>
            <a:ext cx="164592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54372" y="2560320"/>
            <a:ext cx="1554480" cy="1280160"/>
          </a:xfrm>
          <a:prstGeom prst="rect">
            <a:avLst/>
          </a:prstGeom>
          <a:solidFill>
            <a:srgbClr val="01679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54372" y="2560320"/>
            <a:ext cx="15544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4372" y="2578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7524" y="2971800"/>
            <a:ext cx="14081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System notifies
watchlist users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0299" y="3154680"/>
            <a:ext cx="279806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0377" y="3063240"/>
            <a:ext cx="164592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0099" y="2560320"/>
            <a:ext cx="1554480" cy="1280160"/>
          </a:xfrm>
          <a:prstGeom prst="rect">
            <a:avLst/>
          </a:prstGeom>
          <a:solidFill>
            <a:srgbClr val="01679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0099" y="2560320"/>
            <a:ext cx="15544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0099" y="2578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3251" y="2971800"/>
            <a:ext cx="14081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Another dept
claims the item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6025" y="3154680"/>
            <a:ext cx="279806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76104" y="3063240"/>
            <a:ext cx="164592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05825" y="2560320"/>
            <a:ext cx="1554480" cy="1280160"/>
          </a:xfrm>
          <a:prstGeom prst="rect">
            <a:avLst/>
          </a:prstGeom>
          <a:solidFill>
            <a:srgbClr val="2E7D3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05825" y="2560320"/>
            <a:ext cx="15544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5825" y="2578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8977" y="2971800"/>
            <a:ext cx="14081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Pickup
completed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31552" y="2560320"/>
            <a:ext cx="1554480" cy="1280160"/>
          </a:xfrm>
          <a:prstGeom prst="rect">
            <a:avLst/>
          </a:prstGeom>
          <a:solidFill>
            <a:srgbClr val="2E7D3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31552" y="2560320"/>
            <a:ext cx="155448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2578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4704" y="2971800"/>
            <a:ext cx="14081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Value saved
recorded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4160520"/>
            <a:ext cx="9418320" cy="777240"/>
          </a:xfrm>
          <a:prstGeom prst="rect">
            <a:avLst/>
          </a:prstGeom>
          <a:solidFill>
            <a:srgbClr val="00476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63040" y="4224528"/>
            <a:ext cx="9235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Result:  Functional assets stay in use · Departments save budget · The organisation measures its impact in real time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Part 4  —  Technical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Infrastructure &amp; Hosting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81328"/>
            <a:ext cx="11521440" cy="45720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53619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Current (MVP)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53619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Required for 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38528"/>
            <a:ext cx="11521440" cy="658368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29968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Hosting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29968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A4AE"/>
                </a:solidFill>
              </a:rPr>
              <a:t>Vercel (cloud)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029968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Vercel  OR  internal Node.js 22 server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651760"/>
            <a:ext cx="11521440" cy="658368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Domain /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74320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A4AE"/>
                </a:solidFill>
              </a:rPr>
              <a:t>vercel.app subdomain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74320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Internal domain  e.g. secondlife.amat.co.il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64992"/>
            <a:ext cx="11521440" cy="658368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456432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SSL / TLS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456432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A4AE"/>
                </a:solidFill>
              </a:rPr>
              <a:t>Vercel managed certificate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456432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Required — Vercel or internal certificate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078224"/>
            <a:ext cx="11521440" cy="658368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69663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Network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169663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A4AE"/>
                </a:solidFill>
              </a:rPr>
              <a:t>Public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169663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VPN-only or internal network access preferred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72000"/>
            <a:ext cx="11521440" cy="914400"/>
          </a:xfrm>
          <a:prstGeom prst="rect">
            <a:avLst/>
          </a:prstGeom>
          <a:solidFill>
            <a:srgbClr val="003A5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645152"/>
            <a:ext cx="11155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💡  The system is currently live on Vercel and can remain there (low cost, zero ops). Migration to an internal server is possible if data residency is required.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Technical Requirements —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Part 4 continued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5394960" cy="466344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Database 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299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Engine: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02996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PostgreSQL 15+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00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Current: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700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Neon (serverless PostgreSQL, cloud)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1012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Alternatives: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3101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AWS RDS  /  Azure DB for PostgreSQL  /  Internal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5020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Schema mgmt: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9502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Prisma ORM — migrations run automatically on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9028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Backup: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59028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Daily backup recommended; Neon: point-in-time recovery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303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Est. size: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23036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&lt; 1 GB for first 3 years of normal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44752"/>
            <a:ext cx="5879592" cy="466344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5727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Database Tables (Schema)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084832"/>
            <a:ext cx="1965960" cy="384048"/>
          </a:xfrm>
          <a:prstGeom prst="rect">
            <a:avLst/>
          </a:prstGeom>
          <a:solidFill>
            <a:srgbClr val="0047AB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209397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0312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Employee name, email, department, role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24912"/>
            <a:ext cx="1965960" cy="384048"/>
          </a:xfrm>
          <a:prstGeom prst="rect">
            <a:avLst/>
          </a:prstGeom>
          <a:solidFill>
            <a:srgbClr val="0047AB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632" y="273405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7432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Asset details, photos, status, deadline, value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364992"/>
            <a:ext cx="1965960" cy="384048"/>
          </a:xfrm>
          <a:prstGeom prst="rect">
            <a:avLst/>
          </a:prstGeom>
          <a:solidFill>
            <a:srgbClr val="0047AB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2" y="337413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38328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Who claimed what, pickup status, completion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005072"/>
            <a:ext cx="1965960" cy="384048"/>
          </a:xfrm>
          <a:prstGeom prst="rect">
            <a:avLst/>
          </a:prstGeom>
          <a:solidFill>
            <a:srgbClr val="0047AB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401421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Notification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233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In-app inbox messages per user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4645151"/>
            <a:ext cx="1965960" cy="384048"/>
          </a:xfrm>
          <a:prstGeom prst="rect">
            <a:avLst/>
          </a:prstGeom>
          <a:solidFill>
            <a:srgbClr val="0047AB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46542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SearchSubscription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6634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User's saved keyword watchlist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5285232"/>
            <a:ext cx="1965960" cy="384048"/>
          </a:xfrm>
          <a:prstGeom prst="rect">
            <a:avLst/>
          </a:prstGeom>
          <a:solidFill>
            <a:srgbClr val="0047AB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2" y="529437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SearchSubscriptionMatch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530352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Which watchlist entry matched which offer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Technical Requirements — App Stack &amp; 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Part 4 continued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5486400" cy="3657600"/>
          </a:xfrm>
          <a:prstGeom prst="rect">
            <a:avLst/>
          </a:prstGeom>
          <a:solidFill>
            <a:srgbClr val="0D1B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Application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29968"/>
            <a:ext cx="5212080" cy="347472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66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66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 / Note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5212080" cy="411480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43230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43230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Node.js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43230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22.x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16352"/>
            <a:ext cx="5212080" cy="411480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7121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287121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Next.js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87121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15.x  (React App Router)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55264"/>
            <a:ext cx="5212080" cy="411480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101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Language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3101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TypeScript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3101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5.6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94176"/>
            <a:ext cx="5212080" cy="411480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74903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374903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Prisma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74903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5.22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33087"/>
            <a:ext cx="5212080" cy="411480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187951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Styling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4187951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Tailwind CSS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1879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3.4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572000"/>
            <a:ext cx="5212080" cy="411480"/>
          </a:xfrm>
          <a:prstGeom prst="rect">
            <a:avLst/>
          </a:prstGeom>
          <a:solidFill>
            <a:srgbClr val="1222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62686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Images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19" y="462686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Sharp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462686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0.33  (auto-compress to WebP)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010912"/>
            <a:ext cx="5212080" cy="411480"/>
          </a:xfrm>
          <a:prstGeom prst="rect">
            <a:avLst/>
          </a:prstGeom>
          <a:solidFill>
            <a:srgbClr val="0D1B3E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6577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06577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Vercel Blob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506577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4AE"/>
                </a:solidFill>
              </a:rPr>
              <a:t>or AWS S3 / Azure Blob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1444752"/>
            <a:ext cx="5788152" cy="36576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157276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5C00"/>
                </a:solidFill>
              </a:rPr>
              <a:t>Authentication — Action Required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2029968"/>
            <a:ext cx="5394960" cy="475488"/>
          </a:xfrm>
          <a:prstGeom prst="rect">
            <a:avLst/>
          </a:prstGeom>
          <a:solidFill>
            <a:srgbClr val="3E1A00"/>
          </a:solidFill>
          <a:ln w="127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2084831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⚠  Current: mock login (demo only — not for production)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606040"/>
            <a:ext cx="658368" cy="38404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2633472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TR-5.1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263347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Integrate with AMAT Israel Active Directory / LDAP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227832"/>
            <a:ext cx="658368" cy="38404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3255264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TR-5.2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325526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Recommended: SAML 2.0 or OAuth 2.0 SSO
(same credentials as Windows / Outlook)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9624"/>
            <a:ext cx="658368" cy="38404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3877056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TR-5.3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3877056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Department and role pulled from AD attributes automatically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471416"/>
            <a:ext cx="658368" cy="38404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498848"/>
            <a:ext cx="6583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TR-5.4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95160" y="449884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Secure session management via NextAuth.js or similar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212080"/>
            <a:ext cx="11521440" cy="804672"/>
          </a:xfrm>
          <a:prstGeom prst="rect">
            <a:avLst/>
          </a:prstGeom>
          <a:solidFill>
            <a:srgbClr val="002A3A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285232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💡  Email notifications (SMTP / Exchange relay) are also needed for deadline reminders and claim confirmations. This requires SMTP server access from the IT team.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Summary — What IT Needs to Provide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F"/>
                </a:solidFill>
              </a:rPr>
              <a:t>Go-live checklist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3749039" cy="4160520"/>
          </a:xfrm>
          <a:prstGeom prst="rect">
            <a:avLst/>
          </a:prstGeom>
          <a:solidFill>
            <a:srgbClr val="0D1B3E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5727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C00"/>
                </a:solidFill>
              </a:rPr>
              <a:t>🔴  Critical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" y="2011680"/>
            <a:ext cx="3200400" cy="3657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2103120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PostgreSQL database instance (Neon / RDS / Azure / internal)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Internal domain + SSL certificate (e.g. secondlife.amat.co.il)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LDAP / Active Directory SSO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444752"/>
            <a:ext cx="3749039" cy="4160520"/>
          </a:xfrm>
          <a:prstGeom prst="rect">
            <a:avLst/>
          </a:prstGeom>
          <a:solidFill>
            <a:srgbClr val="0D1B3E"/>
          </a:solidFill>
          <a:ln w="1905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5727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C00"/>
                </a:solidFill>
              </a:rPr>
              <a:t>🟡  Important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011680"/>
            <a:ext cx="3200400" cy="36576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SMTP relay or Exchange server access for email notifications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VPN / network access policy decision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Automated database backup schedule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0456" y="1444752"/>
            <a:ext cx="3749039" cy="4160520"/>
          </a:xfrm>
          <a:prstGeom prst="rect">
            <a:avLst/>
          </a:prstGeom>
          <a:solidFill>
            <a:srgbClr val="0D1B3E"/>
          </a:solidFill>
          <a:ln w="19050">
            <a:solidFill>
              <a:srgbClr val="57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5727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7CC99"/>
                </a:solidFill>
              </a:rPr>
              <a:t>🟢  Nice to Have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85048" y="2011680"/>
            <a:ext cx="3200400" cy="36576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2103120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Admin panel for IT to manage users and moderate listings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Usage analytics for management reporting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→  Slack / Teams webhook integration for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60720"/>
            <a:ext cx="11521440" cy="713232"/>
          </a:xfrm>
          <a:prstGeom prst="rect">
            <a:avLst/>
          </a:prstGeom>
          <a:solidFill>
            <a:srgbClr val="0047AB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82472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Expected ROI:  ₪400,000 – ₪1,000,000 saved per year  ·  3–4 weeks to production once IT infrastructure is ready  ·  Hosting cost ~$20–50 /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47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5624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EFF"/>
                </a:solidFill>
              </a:rPr>
              <a:t>Applied Materials Israel  |  SecondLife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